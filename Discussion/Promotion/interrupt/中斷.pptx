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9" r:id="rId4"/>
    <p:sldId id="260" r:id="rId5"/>
    <p:sldId id="265" r:id="rId6"/>
    <p:sldId id="264" r:id="rId7"/>
  </p:sldIdLst>
  <p:sldSz cx="6858000" cy="12192000"/>
  <p:notesSz cx="12192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39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94360" y="4663440"/>
            <a:ext cx="5669280" cy="23774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dirty="0"/>
            </a:lvl1pPr>
          </a:lstStyle>
          <a:p>
            <a:pPr marL="0" indent="0" algn="ctr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94360" y="1051560"/>
            <a:ext cx="566928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dirty="0"/>
            </a:lvl1pPr>
          </a:lstStyle>
          <a:p>
            <a:pPr marL="0" indent="0" algn="l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89000"/>
              </a:schemeClr>
            </a:gs>
            <a:gs pos="23000">
              <a:schemeClr val="accent1">
                <a:lumMod val="89000"/>
              </a:schemeClr>
            </a:gs>
            <a:gs pos="69000">
              <a:schemeClr val="accent1">
                <a:lumMod val="75000"/>
              </a:schemeClr>
            </a:gs>
            <a:gs pos="97000">
              <a:schemeClr val="accent1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32053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0" y="1280160"/>
            <a:ext cx="2468880" cy="4206240"/>
          </a:xfrm>
          <a:prstGeom prst="lightningBolt">
            <a:avLst/>
          </a:prstGeom>
          <a:solidFill>
            <a:srgbClr val="FFD400">
              <a:alpha val="12000"/>
            </a:srgbClr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594360" y="2518226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kern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NONBLOCKINGLIFE · </a:t>
            </a:r>
          </a:p>
          <a:p>
            <a:pPr marL="0" indent="0" algn="ctr">
              <a:buNone/>
            </a:pPr>
            <a:endParaRPr lang="en-US" sz="3600" b="1" kern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latin typeface="Microsoft JhengHei" pitchFamily="34" charset="0"/>
              <a:ea typeface="Microsoft JhengHei" pitchFamily="34" charset="-122"/>
              <a:cs typeface="Microsoft JhengHei" pitchFamily="34" charset="-120"/>
            </a:endParaRPr>
          </a:p>
          <a:p>
            <a:pPr marL="0" indent="0" algn="ctr">
              <a:buNone/>
            </a:pPr>
            <a:r>
              <a:rPr lang="en-US" sz="3600" b="1" kern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CANDIDATES</a:t>
            </a:r>
            <a:endParaRPr lang="en-US" sz="36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2743200" y="4352106"/>
            <a:ext cx="1371600" cy="1051560"/>
          </a:xfrm>
          <a:prstGeom prst="lightningBolt">
            <a:avLst/>
          </a:prstGeom>
          <a:solidFill>
            <a:srgbClr val="FFD400"/>
          </a:solidFill>
          <a:ln/>
          <a:effectLst>
            <a:outerShdw blurRad="228600" dist="50800" dir="16200000" algn="bl" rotWithShape="0">
              <a:srgbClr val="FFD400">
                <a:alpha val="5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594360" y="5403666"/>
            <a:ext cx="5669280" cy="23774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ctr">
              <a:buNone/>
            </a:pPr>
            <a:r>
              <a:rPr lang="en-US" sz="9600" b="1" dirty="0" err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中斷</a:t>
            </a:r>
            <a:br>
              <a:rPr lang="en-US" sz="9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</a:br>
            <a:r>
              <a:rPr lang="en-US" altLang="zh-TW" sz="9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Interrupt</a:t>
            </a:r>
            <a:endParaRPr lang="en-US" sz="9600" dirty="0"/>
          </a:p>
        </p:txBody>
      </p:sp>
      <p:sp>
        <p:nvSpPr>
          <p:cNvPr id="6" name="Text 4"/>
          <p:cNvSpPr/>
          <p:nvPr/>
        </p:nvSpPr>
        <p:spPr>
          <a:xfrm>
            <a:off x="594360" y="9564919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2200" dirty="0">
                <a:solidFill>
                  <a:srgbClr val="FFE8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</a:t>
            </a:r>
            <a:r>
              <a:rPr lang="en-US" sz="2200" dirty="0" err="1">
                <a:solidFill>
                  <a:srgbClr val="FFE8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任何時刻</a:t>
            </a:r>
            <a:r>
              <a:rPr lang="zh-TW" altLang="en-US" sz="2200" dirty="0">
                <a:solidFill>
                  <a:srgbClr val="FFE8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，開始任意狀態</a:t>
            </a:r>
            <a:r>
              <a:rPr lang="en-US" sz="2200" dirty="0" err="1">
                <a:solidFill>
                  <a:srgbClr val="FFE8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的「任意門</a:t>
            </a:r>
            <a:r>
              <a:rPr lang="en-US" sz="2200" dirty="0">
                <a:solidFill>
                  <a:srgbClr val="FFE8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」</a:t>
            </a:r>
          </a:p>
          <a:p>
            <a:pPr algn="ctr"/>
            <a:r>
              <a:rPr lang="en-US" sz="32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The </a:t>
            </a:r>
            <a:r>
              <a:rPr lang="en-US" altLang="zh-TW" sz="32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"Anywhere Door“ </a:t>
            </a:r>
            <a:r>
              <a:rPr lang="en-US" sz="32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for starting any state</a:t>
            </a:r>
            <a:r>
              <a:rPr lang="en-US" altLang="zh-TW" sz="32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at any time</a:t>
            </a:r>
            <a:endParaRPr lang="en-US" sz="32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 flipV="1">
            <a:off x="2537463" y="9564919"/>
            <a:ext cx="3275508" cy="13058"/>
          </a:xfrm>
          <a:prstGeom prst="line">
            <a:avLst/>
          </a:prstGeom>
          <a:noFill/>
          <a:ln w="19050">
            <a:solidFill>
              <a:srgbClr val="27304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5">
            <a:extLst>
              <a:ext uri="{FF2B5EF4-FFF2-40B4-BE49-F238E27FC236}">
                <a16:creationId xmlns:a16="http://schemas.microsoft.com/office/drawing/2014/main" id="{4400AEA6-FD59-EA4B-6027-51F92F854666}"/>
              </a:ext>
            </a:extLst>
          </p:cNvPr>
          <p:cNvSpPr/>
          <p:nvPr/>
        </p:nvSpPr>
        <p:spPr>
          <a:xfrm>
            <a:off x="594360" y="11533327"/>
            <a:ext cx="164592" cy="310896"/>
          </a:xfrm>
          <a:prstGeom prst="lightningBolt">
            <a:avLst/>
          </a:prstGeom>
          <a:solidFill>
            <a:srgbClr val="FFD4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6">
            <a:extLst>
              <a:ext uri="{FF2B5EF4-FFF2-40B4-BE49-F238E27FC236}">
                <a16:creationId xmlns:a16="http://schemas.microsoft.com/office/drawing/2014/main" id="{17DEEC63-561A-3DDA-04D4-0FD68A997197}"/>
              </a:ext>
            </a:extLst>
          </p:cNvPr>
          <p:cNvSpPr/>
          <p:nvPr/>
        </p:nvSpPr>
        <p:spPr>
          <a:xfrm>
            <a:off x="850392" y="11478463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kern="0" spc="100" dirty="0">
                <a:solidFill>
                  <a:srgbClr val="6B76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NonBlockingLife</a:t>
            </a:r>
            <a:endParaRPr lang="en-US" sz="1100" dirty="0"/>
          </a:p>
        </p:txBody>
      </p:sp>
      <p:sp>
        <p:nvSpPr>
          <p:cNvPr id="14" name="Text 17">
            <a:extLst>
              <a:ext uri="{FF2B5EF4-FFF2-40B4-BE49-F238E27FC236}">
                <a16:creationId xmlns:a16="http://schemas.microsoft.com/office/drawing/2014/main" id="{ADD596EA-AF28-74B0-4AAC-63BB083D8142}"/>
              </a:ext>
            </a:extLst>
          </p:cNvPr>
          <p:cNvSpPr/>
          <p:nvPr/>
        </p:nvSpPr>
        <p:spPr>
          <a:xfrm>
            <a:off x="5166360" y="11478463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6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 /5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58368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FFD4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核心前提</a:t>
            </a:r>
            <a:endParaRPr lang="en-US" sz="125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94360" y="1051560"/>
            <a:ext cx="5669280" cy="15544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把大腦當成</a:t>
            </a:r>
            <a:endParaRPr lang="en-US" sz="4000" dirty="0"/>
          </a:p>
          <a:p>
            <a:pPr marL="0" indent="0" algn="l">
              <a:buNone/>
            </a:pPr>
            <a:r>
              <a:rPr lang="en-US" sz="4000" b="1" dirty="0">
                <a:solidFill>
                  <a:srgbClr val="FFD4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單緒執行緒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94360" y="2880360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50" dirty="0">
                <a:solidFill>
                  <a:srgbClr val="9AA6B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一次只允許一項任務執行。一旦開始，畫面就鎖定在該任務，直到完成才回到可選擇的狀態。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594360" y="5659488"/>
            <a:ext cx="5669280" cy="1417320"/>
          </a:xfrm>
          <a:prstGeom prst="roundRect">
            <a:avLst>
              <a:gd name="adj" fmla="val 7742"/>
            </a:avLst>
          </a:prstGeom>
          <a:solidFill>
            <a:srgbClr val="161A26"/>
          </a:solidFill>
          <a:ln w="12700">
            <a:solidFill>
              <a:srgbClr val="273043"/>
            </a:solidFill>
            <a:prstDash val="solid"/>
          </a:ln>
          <a:effectLst>
            <a:outerShdw blurRad="127000" dist="508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914400" y="5915520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D4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2057400" y="591552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排序候選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057400" y="6409296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9AA6B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把當下能做的事，依重要性排好讓你挑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4360" y="7396848"/>
            <a:ext cx="5669280" cy="1417320"/>
          </a:xfrm>
          <a:prstGeom prst="roundRect">
            <a:avLst>
              <a:gd name="adj" fmla="val 7742"/>
            </a:avLst>
          </a:prstGeom>
          <a:solidFill>
            <a:srgbClr val="161A26"/>
          </a:solidFill>
          <a:ln w="12700">
            <a:solidFill>
              <a:srgbClr val="273043"/>
            </a:solidFill>
            <a:prstDash val="solid"/>
          </a:ln>
          <a:effectLst>
            <a:outerShdw blurRad="127000" dist="508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914400" y="7652880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D4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2057400" y="765288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單工鎖定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057400" y="8146656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9AA6B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開始任務 → 畫面停在該任務上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94360" y="9134208"/>
            <a:ext cx="5669280" cy="1417320"/>
          </a:xfrm>
          <a:prstGeom prst="roundRect">
            <a:avLst>
              <a:gd name="adj" fmla="val 7742"/>
            </a:avLst>
          </a:prstGeom>
          <a:solidFill>
            <a:srgbClr val="161A26"/>
          </a:solidFill>
          <a:ln w="12700">
            <a:solidFill>
              <a:srgbClr val="273043"/>
            </a:solidFill>
            <a:prstDash val="solid"/>
          </a:ln>
          <a:effectLst>
            <a:outerShdw blurRad="127000" dist="508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/>
          <p:nvPr/>
        </p:nvSpPr>
        <p:spPr>
          <a:xfrm>
            <a:off x="914400" y="9390240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D4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2057400" y="93902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完成才解鎖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057400" y="9884016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9AA6B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結束後才回到可以選擇的狀態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94360" y="11533327"/>
            <a:ext cx="164592" cy="310896"/>
          </a:xfrm>
          <a:prstGeom prst="lightningBolt">
            <a:avLst/>
          </a:prstGeom>
          <a:solidFill>
            <a:srgbClr val="FFD4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850392" y="11478463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kern="0" spc="100" dirty="0">
                <a:solidFill>
                  <a:srgbClr val="6B76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NonBlockingLife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166360" y="11478463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6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 /5</a:t>
            </a:r>
            <a:endParaRPr lang="en-US" sz="1100" dirty="0"/>
          </a:p>
        </p:txBody>
      </p:sp>
      <p:cxnSp>
        <p:nvCxnSpPr>
          <p:cNvPr id="21" name="直線單箭頭接點 20">
            <a:extLst>
              <a:ext uri="{FF2B5EF4-FFF2-40B4-BE49-F238E27FC236}">
                <a16:creationId xmlns:a16="http://schemas.microsoft.com/office/drawing/2014/main" id="{D8EA992F-7C54-F8C0-E64C-4F098C1E7C39}"/>
              </a:ext>
            </a:extLst>
          </p:cNvPr>
          <p:cNvCxnSpPr>
            <a:stCxn id="5" idx="2"/>
            <a:endCxn id="9" idx="0"/>
          </p:cNvCxnSpPr>
          <p:nvPr/>
        </p:nvCxnSpPr>
        <p:spPr>
          <a:xfrm>
            <a:off x="3429000" y="7076808"/>
            <a:ext cx="0" cy="320040"/>
          </a:xfrm>
          <a:prstGeom prst="straightConnector1">
            <a:avLst/>
          </a:prstGeom>
          <a:ln w="762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單箭頭接點 21">
            <a:extLst>
              <a:ext uri="{FF2B5EF4-FFF2-40B4-BE49-F238E27FC236}">
                <a16:creationId xmlns:a16="http://schemas.microsoft.com/office/drawing/2014/main" id="{4EC31D28-E18D-EACC-6514-5BB07A7E7CE1}"/>
              </a:ext>
            </a:extLst>
          </p:cNvPr>
          <p:cNvCxnSpPr/>
          <p:nvPr/>
        </p:nvCxnSpPr>
        <p:spPr>
          <a:xfrm>
            <a:off x="3418114" y="8814168"/>
            <a:ext cx="0" cy="320040"/>
          </a:xfrm>
          <a:prstGeom prst="straightConnector1">
            <a:avLst/>
          </a:prstGeom>
          <a:ln w="762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Shape 3">
            <a:extLst>
              <a:ext uri="{FF2B5EF4-FFF2-40B4-BE49-F238E27FC236}">
                <a16:creationId xmlns:a16="http://schemas.microsoft.com/office/drawing/2014/main" id="{CD39AA3B-D98E-DB89-A76E-3EA21C26AAFB}"/>
              </a:ext>
            </a:extLst>
          </p:cNvPr>
          <p:cNvSpPr/>
          <p:nvPr/>
        </p:nvSpPr>
        <p:spPr>
          <a:xfrm>
            <a:off x="583474" y="3958704"/>
            <a:ext cx="5669280" cy="1417320"/>
          </a:xfrm>
          <a:prstGeom prst="roundRect">
            <a:avLst>
              <a:gd name="adj" fmla="val 7742"/>
            </a:avLst>
          </a:prstGeom>
          <a:solidFill>
            <a:srgbClr val="0070C0"/>
          </a:solidFill>
          <a:ln w="12700">
            <a:solidFill>
              <a:srgbClr val="273043"/>
            </a:solidFill>
            <a:prstDash val="solid"/>
          </a:ln>
          <a:effectLst>
            <a:outerShdw blurRad="127000" dist="508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7" name="Text 4">
            <a:extLst>
              <a:ext uri="{FF2B5EF4-FFF2-40B4-BE49-F238E27FC236}">
                <a16:creationId xmlns:a16="http://schemas.microsoft.com/office/drawing/2014/main" id="{A312E222-7504-A312-B27C-78252A1D35C0}"/>
              </a:ext>
            </a:extLst>
          </p:cNvPr>
          <p:cNvSpPr/>
          <p:nvPr/>
        </p:nvSpPr>
        <p:spPr>
          <a:xfrm>
            <a:off x="903514" y="4214736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D4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00</a:t>
            </a:r>
            <a:endParaRPr lang="en-US" sz="3400" dirty="0"/>
          </a:p>
        </p:txBody>
      </p:sp>
      <p:sp>
        <p:nvSpPr>
          <p:cNvPr id="28" name="Text 5">
            <a:extLst>
              <a:ext uri="{FF2B5EF4-FFF2-40B4-BE49-F238E27FC236}">
                <a16:creationId xmlns:a16="http://schemas.microsoft.com/office/drawing/2014/main" id="{B5300ED6-D8D5-C718-579F-A33C66FDA30D}"/>
              </a:ext>
            </a:extLst>
          </p:cNvPr>
          <p:cNvSpPr/>
          <p:nvPr/>
        </p:nvSpPr>
        <p:spPr>
          <a:xfrm>
            <a:off x="2046514" y="4214736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Idle</a:t>
            </a:r>
            <a:endParaRPr lang="en-US" sz="2000" dirty="0"/>
          </a:p>
        </p:txBody>
      </p:sp>
      <p:sp>
        <p:nvSpPr>
          <p:cNvPr id="29" name="Text 6">
            <a:extLst>
              <a:ext uri="{FF2B5EF4-FFF2-40B4-BE49-F238E27FC236}">
                <a16:creationId xmlns:a16="http://schemas.microsoft.com/office/drawing/2014/main" id="{43A886A1-C3AD-6BF8-74EC-76910B0781D6}"/>
              </a:ext>
            </a:extLst>
          </p:cNvPr>
          <p:cNvSpPr/>
          <p:nvPr/>
        </p:nvSpPr>
        <p:spPr>
          <a:xfrm>
            <a:off x="2046514" y="470851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zh-TW" altLang="en-US" sz="1400" dirty="0">
                <a:solidFill>
                  <a:schemeClr val="bg1"/>
                </a:solidFill>
              </a:rPr>
              <a:t>預備切換任何狀態中</a:t>
            </a:r>
            <a:endParaRPr lang="en-US" sz="1400" dirty="0">
              <a:solidFill>
                <a:schemeClr val="bg1"/>
              </a:solidFill>
            </a:endParaRPr>
          </a:p>
        </p:txBody>
      </p:sp>
      <p:cxnSp>
        <p:nvCxnSpPr>
          <p:cNvPr id="30" name="直線單箭頭接點 29">
            <a:extLst>
              <a:ext uri="{FF2B5EF4-FFF2-40B4-BE49-F238E27FC236}">
                <a16:creationId xmlns:a16="http://schemas.microsoft.com/office/drawing/2014/main" id="{5B051869-8C36-EE72-6222-5510C4D1B419}"/>
              </a:ext>
            </a:extLst>
          </p:cNvPr>
          <p:cNvCxnSpPr>
            <a:stCxn id="26" idx="2"/>
          </p:cNvCxnSpPr>
          <p:nvPr/>
        </p:nvCxnSpPr>
        <p:spPr>
          <a:xfrm>
            <a:off x="3418114" y="5376024"/>
            <a:ext cx="0" cy="320040"/>
          </a:xfrm>
          <a:prstGeom prst="straightConnector1">
            <a:avLst/>
          </a:prstGeom>
          <a:ln w="762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接點: 弧形 23">
            <a:extLst>
              <a:ext uri="{FF2B5EF4-FFF2-40B4-BE49-F238E27FC236}">
                <a16:creationId xmlns:a16="http://schemas.microsoft.com/office/drawing/2014/main" id="{279DE623-2CEA-6D1E-2060-A6F47192754F}"/>
              </a:ext>
            </a:extLst>
          </p:cNvPr>
          <p:cNvCxnSpPr>
            <a:cxnSpLocks/>
            <a:stCxn id="13" idx="2"/>
            <a:endCxn id="26" idx="0"/>
          </p:cNvCxnSpPr>
          <p:nvPr/>
        </p:nvCxnSpPr>
        <p:spPr>
          <a:xfrm rot="5400000" flipH="1">
            <a:off x="127145" y="7249673"/>
            <a:ext cx="6592824" cy="10886"/>
          </a:xfrm>
          <a:prstGeom prst="curvedConnector5">
            <a:avLst>
              <a:gd name="adj1" fmla="val -3467"/>
              <a:gd name="adj2" fmla="val -25609324"/>
              <a:gd name="adj3" fmla="val 103467"/>
            </a:avLst>
          </a:prstGeom>
          <a:ln w="762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Shape 4">
            <a:extLst>
              <a:ext uri="{FF2B5EF4-FFF2-40B4-BE49-F238E27FC236}">
                <a16:creationId xmlns:a16="http://schemas.microsoft.com/office/drawing/2014/main" id="{E436440F-7097-329A-1480-310B1C3FF399}"/>
              </a:ext>
            </a:extLst>
          </p:cNvPr>
          <p:cNvSpPr/>
          <p:nvPr/>
        </p:nvSpPr>
        <p:spPr>
          <a:xfrm>
            <a:off x="1337310" y="4910976"/>
            <a:ext cx="3406140" cy="3647160"/>
          </a:xfrm>
          <a:prstGeom prst="lightningBolt">
            <a:avLst/>
          </a:prstGeom>
          <a:solidFill>
            <a:srgbClr val="FFD400"/>
          </a:solidFill>
          <a:ln/>
          <a:effectLst>
            <a:outerShdw blurRad="228600" dist="50800" dir="16200000" algn="bl" rotWithShape="0">
              <a:srgbClr val="FFD400">
                <a:alpha val="5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58368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FFD4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隨開即用</a:t>
            </a:r>
            <a:endParaRPr lang="en-US" sz="125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94360" y="1051560"/>
            <a:ext cx="5669280" cy="15544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中斷 = 進入任何</a:t>
            </a:r>
            <a:endParaRPr lang="en-US" sz="3800" dirty="0"/>
          </a:p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狀態的 </a:t>
            </a:r>
            <a:r>
              <a:rPr lang="en-US" sz="3800" b="1" dirty="0">
                <a:solidFill>
                  <a:srgbClr val="FFD4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任意門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94360" y="2971800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50" dirty="0">
                <a:solidFill>
                  <a:srgbClr val="9AA6B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想執行某個任務、進入某種狀態，都能透過中斷直接進入 —— 不會錯過任何靈感。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594360" y="4838482"/>
            <a:ext cx="5669280" cy="1600200"/>
          </a:xfrm>
          <a:prstGeom prst="roundRect">
            <a:avLst>
              <a:gd name="adj" fmla="val 6857"/>
            </a:avLst>
          </a:prstGeom>
          <a:solidFill>
            <a:srgbClr val="161A26"/>
          </a:solidFill>
          <a:ln w="12700">
            <a:solidFill>
              <a:srgbClr val="273043"/>
            </a:solidFill>
            <a:prstDash val="solid"/>
          </a:ln>
          <a:effectLst>
            <a:outerShdw blurRad="127000" dist="508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886968" y="5158522"/>
            <a:ext cx="960120" cy="960120"/>
          </a:xfrm>
          <a:prstGeom prst="roundRect">
            <a:avLst>
              <a:gd name="adj" fmla="val 9524"/>
            </a:avLst>
          </a:prstGeom>
          <a:solidFill>
            <a:srgbClr val="0A0C12"/>
          </a:solidFill>
          <a:ln w="19050">
            <a:solidFill>
              <a:srgbClr val="FFD4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1197864" y="5295682"/>
            <a:ext cx="365760" cy="685800"/>
          </a:xfrm>
          <a:prstGeom prst="lightningBolt">
            <a:avLst/>
          </a:prstGeom>
          <a:solidFill>
            <a:srgbClr val="FFD4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2103120" y="511280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突發狀況先記下來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2103120" y="5643154"/>
            <a:ext cx="3794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9AA6B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想記錄卻取不出名字？再按一次 ⚡ </a:t>
            </a:r>
            <a:r>
              <a:rPr lang="en-US" sz="1400" dirty="0" err="1">
                <a:solidFill>
                  <a:srgbClr val="9AA6B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進入中斷對話，先</a:t>
            </a:r>
            <a:r>
              <a:rPr lang="zh-TW" altLang="en-US" sz="1400" dirty="0">
                <a:solidFill>
                  <a:srgbClr val="9AA6B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進入</a:t>
            </a:r>
            <a:r>
              <a:rPr lang="en-US" sz="1400" dirty="0" err="1">
                <a:solidFill>
                  <a:srgbClr val="9AA6B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再說</a:t>
            </a:r>
            <a:r>
              <a:rPr lang="zh-TW" altLang="en-US" sz="1400" dirty="0">
                <a:solidFill>
                  <a:srgbClr val="9AA6B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，結束時紀錄一下</a:t>
            </a:r>
            <a:r>
              <a:rPr lang="en-US" sz="1400" dirty="0">
                <a:solidFill>
                  <a:srgbClr val="9AA6B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4360" y="6731290"/>
            <a:ext cx="5669280" cy="1600200"/>
          </a:xfrm>
          <a:prstGeom prst="roundRect">
            <a:avLst>
              <a:gd name="adj" fmla="val 6857"/>
            </a:avLst>
          </a:prstGeom>
          <a:solidFill>
            <a:srgbClr val="161A26"/>
          </a:solidFill>
          <a:ln w="12700">
            <a:solidFill>
              <a:srgbClr val="273043"/>
            </a:solidFill>
            <a:prstDash val="solid"/>
          </a:ln>
          <a:effectLst>
            <a:outerShdw blurRad="127000" dist="508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6" name="Shape 14"/>
          <p:cNvSpPr/>
          <p:nvPr/>
        </p:nvSpPr>
        <p:spPr>
          <a:xfrm>
            <a:off x="886968" y="7051330"/>
            <a:ext cx="960120" cy="960120"/>
          </a:xfrm>
          <a:prstGeom prst="roundRect">
            <a:avLst>
              <a:gd name="adj" fmla="val 9524"/>
            </a:avLst>
          </a:prstGeom>
          <a:solidFill>
            <a:srgbClr val="0A0C12"/>
          </a:solidFill>
          <a:ln w="19050">
            <a:solidFill>
              <a:srgbClr val="FFD4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1197864" y="7188490"/>
            <a:ext cx="365760" cy="685800"/>
          </a:xfrm>
          <a:prstGeom prst="lightningBolt">
            <a:avLst/>
          </a:prstGeom>
          <a:solidFill>
            <a:srgbClr val="FFD4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2103120" y="700561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🔍 一句話變任務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2103120" y="7535962"/>
            <a:ext cx="3794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9AA6B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點 🔍 講出名稱，系統幫你找到它；</a:t>
            </a:r>
            <a:r>
              <a:rPr lang="en-US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不存在就建立新任務或狀態</a:t>
            </a:r>
            <a:r>
              <a:rPr lang="en-US" sz="1400" dirty="0">
                <a:solidFill>
                  <a:srgbClr val="9AA6B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94360" y="11533327"/>
            <a:ext cx="164592" cy="310896"/>
          </a:xfrm>
          <a:prstGeom prst="lightningBolt">
            <a:avLst/>
          </a:prstGeom>
          <a:solidFill>
            <a:srgbClr val="FFD4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9"/>
          <p:cNvSpPr/>
          <p:nvPr/>
        </p:nvSpPr>
        <p:spPr>
          <a:xfrm>
            <a:off x="850392" y="11478463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kern="0" spc="100" dirty="0">
                <a:solidFill>
                  <a:srgbClr val="6B76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NonBlockingLife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166360" y="11478463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6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3/ 5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58368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FFD4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一目瞭然</a:t>
            </a:r>
            <a:endParaRPr lang="en-US" sz="125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94360" y="1051560"/>
            <a:ext cx="5669280" cy="15544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被中斷的任務</a:t>
            </a:r>
            <a:endParaRPr lang="en-US" sz="4000" dirty="0"/>
          </a:p>
          <a:p>
            <a:pPr marL="0" indent="0" algn="l">
              <a:buNone/>
            </a:pPr>
            <a:r>
              <a:rPr lang="en-US" sz="4000" b="1" dirty="0">
                <a:solidFill>
                  <a:srgbClr val="FFD4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黃色置頂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94360" y="2926080"/>
            <a:ext cx="5669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50" dirty="0">
                <a:solidFill>
                  <a:srgbClr val="9AA6B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還沒回去完成的任務會以黃色置頂於清單，讓你一眼看到「還欠自己什麼」。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594360" y="4160520"/>
            <a:ext cx="5669280" cy="1051560"/>
          </a:xfrm>
          <a:prstGeom prst="roundRect">
            <a:avLst>
              <a:gd name="adj" fmla="val 8696"/>
            </a:avLst>
          </a:prstGeom>
          <a:solidFill>
            <a:srgbClr val="FFD400"/>
          </a:solidFill>
          <a:ln/>
          <a:effectLst>
            <a:outerShdw blurRad="127000" dist="508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886968" y="4416552"/>
            <a:ext cx="384048" cy="548640"/>
          </a:xfrm>
          <a:prstGeom prst="lightningBolt">
            <a:avLst/>
          </a:prstGeom>
          <a:solidFill>
            <a:srgbClr val="0A0C1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1463040" y="4160520"/>
            <a:ext cx="3840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A0C1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被中斷的任務 · 置頂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709160" y="4160520"/>
            <a:ext cx="1417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A0C1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回去完成</a:t>
            </a:r>
            <a:endParaRPr lang="en-US" sz="1300" dirty="0"/>
          </a:p>
        </p:txBody>
      </p:sp>
      <p:grpSp>
        <p:nvGrpSpPr>
          <p:cNvPr id="25" name="群組 24">
            <a:extLst>
              <a:ext uri="{FF2B5EF4-FFF2-40B4-BE49-F238E27FC236}">
                <a16:creationId xmlns:a16="http://schemas.microsoft.com/office/drawing/2014/main" id="{24BB2AB7-2869-8F46-22A8-AF947232ECB5}"/>
              </a:ext>
            </a:extLst>
          </p:cNvPr>
          <p:cNvGrpSpPr/>
          <p:nvPr/>
        </p:nvGrpSpPr>
        <p:grpSpPr>
          <a:xfrm>
            <a:off x="594360" y="6601968"/>
            <a:ext cx="5669280" cy="2048256"/>
            <a:chOff x="594360" y="5468112"/>
            <a:chExt cx="5669280" cy="2048256"/>
          </a:xfrm>
        </p:grpSpPr>
        <p:sp>
          <p:nvSpPr>
            <p:cNvPr id="9" name="Shape 7"/>
            <p:cNvSpPr/>
            <p:nvPr/>
          </p:nvSpPr>
          <p:spPr>
            <a:xfrm>
              <a:off x="594360" y="5468112"/>
              <a:ext cx="5669280" cy="914400"/>
            </a:xfrm>
            <a:prstGeom prst="roundRect">
              <a:avLst>
                <a:gd name="adj" fmla="val 12000"/>
              </a:avLst>
            </a:prstGeom>
            <a:solidFill>
              <a:srgbClr val="161A26"/>
            </a:solidFill>
            <a:ln w="12700">
              <a:solidFill>
                <a:srgbClr val="273043"/>
              </a:solidFill>
              <a:prstDash val="solid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0" name="Text 8"/>
            <p:cNvSpPr/>
            <p:nvPr/>
          </p:nvSpPr>
          <p:spPr>
            <a:xfrm>
              <a:off x="960120" y="5468112"/>
              <a:ext cx="3566160" cy="914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越上層 → 越該注意</a:t>
              </a:r>
              <a:endParaRPr lang="en-US" sz="16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4389120" y="5468112"/>
              <a:ext cx="1737360" cy="914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250" b="1" dirty="0">
                  <a:solidFill>
                    <a:srgbClr val="9AA6B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還剩 25 分</a:t>
              </a:r>
              <a:endParaRPr lang="en-US" sz="125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594360" y="6601968"/>
              <a:ext cx="5669280" cy="914400"/>
            </a:xfrm>
            <a:prstGeom prst="roundRect">
              <a:avLst>
                <a:gd name="adj" fmla="val 12000"/>
              </a:avLst>
            </a:prstGeom>
            <a:solidFill>
              <a:srgbClr val="00B050"/>
            </a:solidFill>
            <a:ln w="12700">
              <a:solidFill>
                <a:srgbClr val="273043"/>
              </a:solidFill>
              <a:prstDash val="solid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3" name="Text 11"/>
            <p:cNvSpPr/>
            <p:nvPr/>
          </p:nvSpPr>
          <p:spPr>
            <a:xfrm>
              <a:off x="960120" y="6601968"/>
              <a:ext cx="3566160" cy="914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今天差不多夠了</a:t>
              </a:r>
              <a:endParaRPr lang="en-US" sz="160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4389120" y="6601968"/>
              <a:ext cx="1737360" cy="914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250" b="1" dirty="0">
                  <a:solidFill>
                    <a:schemeClr val="bg1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綠色 · OK</a:t>
              </a:r>
              <a:endParaRPr lang="en-US" sz="125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4" name="群組 23">
            <a:extLst>
              <a:ext uri="{FF2B5EF4-FFF2-40B4-BE49-F238E27FC236}">
                <a16:creationId xmlns:a16="http://schemas.microsoft.com/office/drawing/2014/main" id="{FF6BF0AE-041A-4B67-6A22-0B9DB2FF4A88}"/>
              </a:ext>
            </a:extLst>
          </p:cNvPr>
          <p:cNvGrpSpPr/>
          <p:nvPr/>
        </p:nvGrpSpPr>
        <p:grpSpPr>
          <a:xfrm>
            <a:off x="548640" y="5431536"/>
            <a:ext cx="5669280" cy="914400"/>
            <a:chOff x="594360" y="7735824"/>
            <a:chExt cx="5669280" cy="914400"/>
          </a:xfrm>
        </p:grpSpPr>
        <p:sp>
          <p:nvSpPr>
            <p:cNvPr id="15" name="Shape 13"/>
            <p:cNvSpPr/>
            <p:nvPr/>
          </p:nvSpPr>
          <p:spPr>
            <a:xfrm>
              <a:off x="594360" y="7735824"/>
              <a:ext cx="5669280" cy="914400"/>
            </a:xfrm>
            <a:prstGeom prst="roundRect">
              <a:avLst>
                <a:gd name="adj" fmla="val 12000"/>
              </a:avLst>
            </a:prstGeom>
            <a:solidFill>
              <a:srgbClr val="FF0000"/>
            </a:solidFill>
            <a:ln w="12700">
              <a:solidFill>
                <a:srgbClr val="273043"/>
              </a:solidFill>
              <a:prstDash val="solid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6" name="Text 14"/>
            <p:cNvSpPr/>
            <p:nvPr/>
          </p:nvSpPr>
          <p:spPr>
            <a:xfrm>
              <a:off x="960120" y="7735824"/>
              <a:ext cx="3566160" cy="914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 err="1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已經過時了</a:t>
              </a:r>
              <a:endParaRPr lang="en-US" sz="160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4389120" y="7735824"/>
              <a:ext cx="1737360" cy="914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250" b="1" dirty="0">
                  <a:solidFill>
                    <a:schemeClr val="bg1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紅色 · 逾期</a:t>
              </a:r>
              <a:endParaRPr lang="en-US" sz="1250" dirty="0">
                <a:solidFill>
                  <a:schemeClr val="bg1"/>
                </a:solidFill>
              </a:endParaRPr>
            </a:p>
          </p:txBody>
        </p:sp>
      </p:grpSp>
      <p:sp>
        <p:nvSpPr>
          <p:cNvPr id="18" name="Shape 16"/>
          <p:cNvSpPr/>
          <p:nvPr/>
        </p:nvSpPr>
        <p:spPr>
          <a:xfrm>
            <a:off x="594360" y="8869680"/>
            <a:ext cx="5669280" cy="914400"/>
          </a:xfrm>
          <a:prstGeom prst="roundRect">
            <a:avLst>
              <a:gd name="adj" fmla="val 12000"/>
            </a:avLst>
          </a:prstGeom>
          <a:solidFill>
            <a:schemeClr val="bg1">
              <a:lumMod val="65000"/>
            </a:schemeClr>
          </a:solidFill>
          <a:ln w="12700">
            <a:solidFill>
              <a:srgbClr val="27304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960120" y="886968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strike="sngStrike" dirty="0"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社群軟體 ⛔ 用太多了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389120" y="886968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灰色 · 刪除線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94360" y="11533327"/>
            <a:ext cx="164592" cy="310896"/>
          </a:xfrm>
          <a:prstGeom prst="lightningBolt">
            <a:avLst/>
          </a:prstGeom>
          <a:solidFill>
            <a:srgbClr val="FFD4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2" name="Text 20"/>
          <p:cNvSpPr/>
          <p:nvPr/>
        </p:nvSpPr>
        <p:spPr>
          <a:xfrm>
            <a:off x="850392" y="11478463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kern="0" spc="100" dirty="0">
                <a:solidFill>
                  <a:srgbClr val="6B76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NonBlockingLife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166360" y="11478463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6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4/ 5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BF2E48E-3063-479A-AF7D-3B5A3785E5E0}"/>
              </a:ext>
            </a:extLst>
          </p:cNvPr>
          <p:cNvSpPr>
            <a:spLocks noGrp="1"/>
          </p:cNvSpPr>
          <p:nvPr>
            <p:ph type="title" idx="100"/>
          </p:nvPr>
        </p:nvSpPr>
        <p:spPr>
          <a:xfrm>
            <a:off x="2338251" y="4541520"/>
            <a:ext cx="2377440" cy="1554480"/>
          </a:xfrm>
        </p:spPr>
        <p:txBody>
          <a:bodyPr/>
          <a:lstStyle/>
          <a:p>
            <a:r>
              <a:rPr lang="zh-TW" altLang="en-US" sz="7200" dirty="0">
                <a:solidFill>
                  <a:schemeClr val="bg1"/>
                </a:solidFill>
              </a:rPr>
              <a:t>示範</a:t>
            </a: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309527D-F57A-2335-5B28-32E1C102A96E}"/>
              </a:ext>
            </a:extLst>
          </p:cNvPr>
          <p:cNvSpPr/>
          <p:nvPr/>
        </p:nvSpPr>
        <p:spPr>
          <a:xfrm>
            <a:off x="2880360" y="1985551"/>
            <a:ext cx="1097280" cy="1600200"/>
          </a:xfrm>
          <a:prstGeom prst="lightningBolt">
            <a:avLst/>
          </a:prstGeom>
          <a:solidFill>
            <a:srgbClr val="FFD400"/>
          </a:solidFill>
          <a:ln/>
          <a:effectLst>
            <a:outerShdw blurRad="228600" dist="50800" dir="16200000" algn="bl" rotWithShape="0">
              <a:srgbClr val="FFD400">
                <a:alpha val="5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151315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6949440"/>
            <a:ext cx="2377440" cy="4023360"/>
          </a:xfrm>
          <a:prstGeom prst="lightningBolt">
            <a:avLst/>
          </a:prstGeom>
          <a:solidFill>
            <a:srgbClr val="FFD400">
              <a:alpha val="10000"/>
            </a:srgbClr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2880360" y="1985551"/>
            <a:ext cx="1097280" cy="1600200"/>
          </a:xfrm>
          <a:prstGeom prst="lightningBolt">
            <a:avLst/>
          </a:prstGeom>
          <a:solidFill>
            <a:srgbClr val="FFD400"/>
          </a:solidFill>
          <a:ln/>
          <a:effectLst>
            <a:outerShdw blurRad="228600" dist="50800" dir="16200000" algn="bl" rotWithShape="0">
              <a:srgbClr val="FFD400">
                <a:alpha val="5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594360" y="4042951"/>
            <a:ext cx="5669280" cy="23774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ctr">
              <a:buNone/>
            </a:pPr>
            <a:r>
              <a:rPr lang="en-US" sz="5200" b="1" dirty="0" err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所以</a:t>
            </a:r>
            <a:r>
              <a:rPr lang="en-US" sz="5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</a:t>
            </a:r>
            <a:r>
              <a:rPr lang="zh-TW" altLang="en-US" sz="5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新的</a:t>
            </a:r>
            <a:r>
              <a:rPr lang="en-US" sz="5200" b="1" dirty="0" err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中斷</a:t>
            </a:r>
            <a:r>
              <a:rPr lang="zh-TW" altLang="en-US" sz="5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能</a:t>
            </a:r>
            <a:endParaRPr lang="en-US" sz="5200" dirty="0"/>
          </a:p>
          <a:p>
            <a:pPr marL="0" indent="0" algn="ctr">
              <a:buNone/>
            </a:pPr>
            <a:r>
              <a:rPr lang="zh-TW" altLang="en-US" sz="4800" b="1" dirty="0">
                <a:solidFill>
                  <a:srgbClr val="FFD4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尋找與創造任務</a:t>
            </a:r>
            <a:br>
              <a:rPr lang="en-US" altLang="zh-TW" sz="4800" b="1" dirty="0">
                <a:solidFill>
                  <a:srgbClr val="FFD4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</a:br>
            <a:r>
              <a:rPr lang="zh-TW" altLang="en-US" sz="4800" b="1" dirty="0">
                <a:solidFill>
                  <a:srgbClr val="FFD4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且</a:t>
            </a:r>
            <a:r>
              <a:rPr lang="en-US" sz="4800" b="1" dirty="0" err="1">
                <a:solidFill>
                  <a:srgbClr val="FFD4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隨時可用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594360" y="765810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E8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排序 · 專注 · 中斷 · 記錄 —— 讓</a:t>
            </a:r>
            <a:r>
              <a:rPr lang="zh-TW" altLang="en-US" sz="1800" dirty="0">
                <a:solidFill>
                  <a:srgbClr val="FFE8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人生不再因慣性而阻塞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600200" y="8663940"/>
            <a:ext cx="3657600" cy="868680"/>
          </a:xfrm>
          <a:prstGeom prst="roundRect">
            <a:avLst>
              <a:gd name="adj" fmla="val 47368"/>
            </a:avLst>
          </a:prstGeom>
          <a:solidFill>
            <a:srgbClr val="FFD400"/>
          </a:solidFill>
          <a:ln/>
          <a:effectLst>
            <a:outerShdw blurRad="228600" dist="50800" dir="16200000" algn="bl" rotWithShape="0">
              <a:srgbClr val="FFD400">
                <a:alpha val="5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1600200" y="866394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0C1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追蹤看更多 NBL </a:t>
            </a:r>
            <a:r>
              <a:rPr lang="en-US" sz="1800" b="1" dirty="0" err="1">
                <a:solidFill>
                  <a:srgbClr val="0A0C1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用法</a:t>
            </a:r>
            <a:r>
              <a:rPr lang="zh-TW" altLang="en-US" sz="1800" b="1" dirty="0">
                <a:solidFill>
                  <a:srgbClr val="0A0C1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與新功能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94360" y="985266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kern="0" spc="200" dirty="0">
                <a:solidFill>
                  <a:srgbClr val="6B76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NonBlockingLife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4360" y="11533327"/>
            <a:ext cx="164592" cy="310896"/>
          </a:xfrm>
          <a:prstGeom prst="lightningBolt">
            <a:avLst/>
          </a:prstGeom>
          <a:solidFill>
            <a:srgbClr val="FFD4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850392" y="11478463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kern="0" spc="100" dirty="0">
                <a:solidFill>
                  <a:srgbClr val="6B76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NonBlockingLife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166360" y="11478463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6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5/ 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274</TotalTime>
  <Words>194</Words>
  <Application>Microsoft Office PowerPoint</Application>
  <PresentationFormat>寬螢幕</PresentationFormat>
  <Paragraphs>65</Paragraphs>
  <Slides>6</Slides>
  <Notes>5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10" baseType="lpstr">
      <vt:lpstr>Microsoft JhengHei</vt:lpstr>
      <vt:lpstr>Arial</vt:lpstr>
      <vt:lpstr>Calibri</vt:lpstr>
      <vt:lpstr>Office Theme</vt:lpstr>
      <vt:lpstr>中斷 Interrupt</vt:lpstr>
      <vt:lpstr>把大腦當成 單緒執行緒</vt:lpstr>
      <vt:lpstr>中斷 = 進入任何 狀態的 任意門</vt:lpstr>
      <vt:lpstr>被中斷的任務 黃色置頂</vt:lpstr>
      <vt:lpstr>示範</vt:lpstr>
      <vt:lpstr>所以，新的中斷能 尋找與創造任務 且隨時可用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Young-Chung Hsue</dc:creator>
  <cp:lastModifiedBy>Young-Chung Hsue</cp:lastModifiedBy>
  <cp:revision>5</cp:revision>
  <dcterms:created xsi:type="dcterms:W3CDTF">2026-07-01T02:55:47Z</dcterms:created>
  <dcterms:modified xsi:type="dcterms:W3CDTF">2026-07-01T07:29:53Z</dcterms:modified>
</cp:coreProperties>
</file>